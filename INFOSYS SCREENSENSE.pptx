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Poppin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0982" y="3214176"/>
            <a:ext cx="9592218" cy="161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78"/>
              </a:lnSpc>
            </a:pPr>
            <a:r>
              <a:rPr lang="en-US" sz="898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SCREEN SENSE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0982" y="4786147"/>
            <a:ext cx="8343484" cy="609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6"/>
              </a:lnSpc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INFOSYS SPRINGBOARD INTERNSHIP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0982" y="2851895"/>
            <a:ext cx="8903778" cy="609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6"/>
              </a:lnSpc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personalized recommendation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4679" y="1442420"/>
            <a:ext cx="15018641" cy="7402160"/>
            <a:chOff x="0" y="0"/>
            <a:chExt cx="3955527" cy="19495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55527" cy="1949540"/>
            </a:xfrm>
            <a:custGeom>
              <a:avLst/>
              <a:gdLst/>
              <a:ahLst/>
              <a:cxnLst/>
              <a:rect r="r" b="b" t="t" l="l"/>
              <a:pathLst>
                <a:path h="1949540" w="3955527">
                  <a:moveTo>
                    <a:pt x="26290" y="0"/>
                  </a:moveTo>
                  <a:lnTo>
                    <a:pt x="3929237" y="0"/>
                  </a:lnTo>
                  <a:cubicBezTo>
                    <a:pt x="3943757" y="0"/>
                    <a:pt x="3955527" y="11770"/>
                    <a:pt x="3955527" y="26290"/>
                  </a:cubicBezTo>
                  <a:lnTo>
                    <a:pt x="3955527" y="1923250"/>
                  </a:lnTo>
                  <a:cubicBezTo>
                    <a:pt x="3955527" y="1937770"/>
                    <a:pt x="3943757" y="1949540"/>
                    <a:pt x="3929237" y="1949540"/>
                  </a:cubicBezTo>
                  <a:lnTo>
                    <a:pt x="26290" y="1949540"/>
                  </a:lnTo>
                  <a:cubicBezTo>
                    <a:pt x="11770" y="1949540"/>
                    <a:pt x="0" y="1937770"/>
                    <a:pt x="0" y="1923250"/>
                  </a:cubicBezTo>
                  <a:lnTo>
                    <a:pt x="0" y="26290"/>
                  </a:lnTo>
                  <a:cubicBezTo>
                    <a:pt x="0" y="11770"/>
                    <a:pt x="11770" y="0"/>
                    <a:pt x="26290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955527" cy="2006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062443" y="1941684"/>
            <a:ext cx="10163115" cy="131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27"/>
              </a:lnSpc>
            </a:pPr>
            <a:r>
              <a:rPr lang="en-US" b="true" sz="7233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60267" y="4585138"/>
            <a:ext cx="13393053" cy="286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</a:p>
          <a:p>
            <a:pPr algn="l" marL="585854" indent="-292927" lvl="1">
              <a:lnSpc>
                <a:spcPts val="3798"/>
              </a:lnSpc>
              <a:buFont typeface="Arial"/>
              <a:buChar char="•"/>
            </a:pPr>
            <a:r>
              <a:rPr lang="en-US" sz="2713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End-to-end analytics pipeline (data → features → model → output)</a:t>
            </a:r>
          </a:p>
          <a:p>
            <a:pPr algn="l" marL="585854" indent="-292927" lvl="1">
              <a:lnSpc>
                <a:spcPts val="3798"/>
              </a:lnSpc>
              <a:buFont typeface="Arial"/>
              <a:buChar char="•"/>
            </a:pPr>
            <a:r>
              <a:rPr lang="en-US" sz="2713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Interactive Power BI dashboard for visual insights</a:t>
            </a:r>
          </a:p>
          <a:p>
            <a:pPr algn="l" marL="585854" indent="-292927" lvl="1">
              <a:lnSpc>
                <a:spcPts val="3798"/>
              </a:lnSpc>
              <a:buFont typeface="Arial"/>
              <a:buChar char="•"/>
            </a:pPr>
            <a:r>
              <a:rPr lang="en-US" sz="2713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Full-stack application (FastAPI backend + React frontend)</a:t>
            </a:r>
          </a:p>
          <a:p>
            <a:pPr algn="l" marL="585854" indent="-292927" lvl="1">
              <a:lnSpc>
                <a:spcPts val="3798"/>
              </a:lnSpc>
              <a:buFont typeface="Arial"/>
              <a:buChar char="•"/>
            </a:pPr>
            <a:r>
              <a:rPr lang="en-US" sz="2713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Behavioral pattern insights based on screen-time trends</a:t>
            </a:r>
          </a:p>
          <a:p>
            <a:pPr algn="ctr">
              <a:lnSpc>
                <a:spcPts val="379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447473" y="3700760"/>
            <a:ext cx="13393053" cy="960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8"/>
              </a:lnSpc>
            </a:pPr>
            <a:r>
              <a:rPr lang="en-US" sz="2713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Build a data-driven recommendation system to analyze screen-time and provide personalized insights.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4679" y="1442420"/>
            <a:ext cx="15018641" cy="7402160"/>
            <a:chOff x="0" y="0"/>
            <a:chExt cx="3955527" cy="19495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55527" cy="1949540"/>
            </a:xfrm>
            <a:custGeom>
              <a:avLst/>
              <a:gdLst/>
              <a:ahLst/>
              <a:cxnLst/>
              <a:rect r="r" b="b" t="t" l="l"/>
              <a:pathLst>
                <a:path h="1949540" w="3955527">
                  <a:moveTo>
                    <a:pt x="26290" y="0"/>
                  </a:moveTo>
                  <a:lnTo>
                    <a:pt x="3929237" y="0"/>
                  </a:lnTo>
                  <a:cubicBezTo>
                    <a:pt x="3943757" y="0"/>
                    <a:pt x="3955527" y="11770"/>
                    <a:pt x="3955527" y="26290"/>
                  </a:cubicBezTo>
                  <a:lnTo>
                    <a:pt x="3955527" y="1923250"/>
                  </a:lnTo>
                  <a:cubicBezTo>
                    <a:pt x="3955527" y="1937770"/>
                    <a:pt x="3943757" y="1949540"/>
                    <a:pt x="3929237" y="1949540"/>
                  </a:cubicBezTo>
                  <a:lnTo>
                    <a:pt x="26290" y="1949540"/>
                  </a:lnTo>
                  <a:cubicBezTo>
                    <a:pt x="11770" y="1949540"/>
                    <a:pt x="0" y="1937770"/>
                    <a:pt x="0" y="1923250"/>
                  </a:cubicBezTo>
                  <a:lnTo>
                    <a:pt x="0" y="26290"/>
                  </a:lnTo>
                  <a:cubicBezTo>
                    <a:pt x="0" y="11770"/>
                    <a:pt x="11770" y="0"/>
                    <a:pt x="26290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955527" cy="2006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927972" y="1964096"/>
            <a:ext cx="10432056" cy="131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27"/>
              </a:lnSpc>
            </a:pPr>
            <a:r>
              <a:rPr lang="en-US" b="true" sz="7233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84296" y="3209107"/>
            <a:ext cx="9715996" cy="321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8"/>
              </a:lnSpc>
            </a:pPr>
          </a:p>
          <a:p>
            <a:pPr algn="l">
              <a:lnSpc>
                <a:spcPts val="3198"/>
              </a:lnSpc>
            </a:pPr>
          </a:p>
          <a:p>
            <a:pPr algn="l" marL="493203" indent="-246602" lvl="1">
              <a:lnSpc>
                <a:spcPts val="3198"/>
              </a:lnSpc>
              <a:buFont typeface="Arial"/>
              <a:buChar char="•"/>
            </a:pPr>
            <a:r>
              <a:rPr lang="en-US" sz="228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Demographics: Age, Gender</a:t>
            </a:r>
          </a:p>
          <a:p>
            <a:pPr algn="l" marL="493203" indent="-246602" lvl="1">
              <a:lnSpc>
                <a:spcPts val="3198"/>
              </a:lnSpc>
              <a:buFont typeface="Arial"/>
              <a:buChar char="•"/>
            </a:pPr>
            <a:r>
              <a:rPr lang="en-US" sz="228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Device Type: Mobile, Laptop, Tablet</a:t>
            </a:r>
          </a:p>
          <a:p>
            <a:pPr algn="l" marL="493203" indent="-246602" lvl="1">
              <a:lnSpc>
                <a:spcPts val="3198"/>
              </a:lnSpc>
              <a:buFont typeface="Arial"/>
              <a:buChar char="•"/>
            </a:pPr>
            <a:r>
              <a:rPr lang="en-US" sz="228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Activities: Educational, Recreational, Gaming, Social Media</a:t>
            </a:r>
          </a:p>
          <a:p>
            <a:pPr algn="l" marL="493203" indent="-246602" lvl="1">
              <a:lnSpc>
                <a:spcPts val="3198"/>
              </a:lnSpc>
              <a:buFont typeface="Arial"/>
              <a:buChar char="•"/>
            </a:pPr>
            <a:r>
              <a:rPr lang="en-US" sz="228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Screen Time Metrics: Daily hours, session distribution</a:t>
            </a:r>
          </a:p>
          <a:p>
            <a:pPr algn="l" marL="493203" indent="-246602" lvl="1">
              <a:lnSpc>
                <a:spcPts val="3198"/>
              </a:lnSpc>
              <a:buFont typeface="Arial"/>
              <a:buChar char="•"/>
            </a:pPr>
            <a:r>
              <a:rPr lang="en-US" sz="228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Health Impacts: Eye strain, headache, anxiety</a:t>
            </a:r>
          </a:p>
          <a:p>
            <a:pPr algn="l">
              <a:lnSpc>
                <a:spcPts val="319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286002" y="3458696"/>
            <a:ext cx="9715996" cy="40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8"/>
              </a:lnSpc>
            </a:pPr>
            <a:r>
              <a:rPr lang="en-US" sz="228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Dataset Used: Indian Kids Screen-Time Dataset 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86002" y="6137127"/>
            <a:ext cx="10074026" cy="121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8"/>
              </a:lnSpc>
            </a:pPr>
            <a:r>
              <a:rPr lang="en-US" sz="228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Reason for Selection:</a:t>
            </a:r>
          </a:p>
          <a:p>
            <a:pPr algn="l">
              <a:lnSpc>
                <a:spcPts val="3198"/>
              </a:lnSpc>
            </a:pPr>
            <a:r>
              <a:rPr lang="en-US" sz="228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Highly relevant dataset with rich behavioral attributes suitable for building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08956" y="1948590"/>
            <a:ext cx="7301807" cy="6870323"/>
            <a:chOff x="0" y="0"/>
            <a:chExt cx="2362204" cy="22226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62204" cy="2222615"/>
            </a:xfrm>
            <a:custGeom>
              <a:avLst/>
              <a:gdLst/>
              <a:ahLst/>
              <a:cxnLst/>
              <a:rect r="r" b="b" t="t" l="l"/>
              <a:pathLst>
                <a:path h="2222615" w="2362204">
                  <a:moveTo>
                    <a:pt x="54074" y="0"/>
                  </a:moveTo>
                  <a:lnTo>
                    <a:pt x="2308130" y="0"/>
                  </a:lnTo>
                  <a:cubicBezTo>
                    <a:pt x="2337994" y="0"/>
                    <a:pt x="2362204" y="24210"/>
                    <a:pt x="2362204" y="54074"/>
                  </a:cubicBezTo>
                  <a:lnTo>
                    <a:pt x="2362204" y="2168541"/>
                  </a:lnTo>
                  <a:cubicBezTo>
                    <a:pt x="2362204" y="2182882"/>
                    <a:pt x="2356507" y="2196636"/>
                    <a:pt x="2346366" y="2206777"/>
                  </a:cubicBezTo>
                  <a:cubicBezTo>
                    <a:pt x="2336225" y="2216918"/>
                    <a:pt x="2322471" y="2222615"/>
                    <a:pt x="2308130" y="2222615"/>
                  </a:cubicBezTo>
                  <a:lnTo>
                    <a:pt x="54074" y="2222615"/>
                  </a:lnTo>
                  <a:cubicBezTo>
                    <a:pt x="39733" y="2222615"/>
                    <a:pt x="25979" y="2216918"/>
                    <a:pt x="15838" y="2206777"/>
                  </a:cubicBezTo>
                  <a:cubicBezTo>
                    <a:pt x="5697" y="2196636"/>
                    <a:pt x="0" y="2182882"/>
                    <a:pt x="0" y="2168541"/>
                  </a:cubicBezTo>
                  <a:lnTo>
                    <a:pt x="0" y="54074"/>
                  </a:lnTo>
                  <a:cubicBezTo>
                    <a:pt x="0" y="39733"/>
                    <a:pt x="5697" y="25979"/>
                    <a:pt x="15838" y="15838"/>
                  </a:cubicBezTo>
                  <a:cubicBezTo>
                    <a:pt x="25979" y="5697"/>
                    <a:pt x="39733" y="0"/>
                    <a:pt x="54074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362204" cy="2279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302374" y="2231237"/>
            <a:ext cx="6724178" cy="189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b="true" sz="60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INSIGHTS EXTRACTED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76831" y="2559478"/>
            <a:ext cx="7766058" cy="6005168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9835510" y="4067762"/>
            <a:ext cx="7423790" cy="44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5"/>
              </a:lnSpc>
            </a:pPr>
          </a:p>
          <a:p>
            <a:pPr algn="l" marL="458896" indent="-229448" lvl="1">
              <a:lnSpc>
                <a:spcPts val="2975"/>
              </a:lnSpc>
              <a:buFont typeface="Arial"/>
              <a:buChar char="•"/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Recreational screen time is significantly higher than educational usage.</a:t>
            </a:r>
          </a:p>
          <a:p>
            <a:pPr algn="l" marL="458896" indent="-229448" lvl="1">
              <a:lnSpc>
                <a:spcPts val="2975"/>
              </a:lnSpc>
              <a:buFont typeface="Arial"/>
              <a:buChar char="•"/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Mobile devices account for the majority of daily screen hours.</a:t>
            </a:r>
          </a:p>
          <a:p>
            <a:pPr algn="l" marL="458896" indent="-229448" lvl="1">
              <a:lnSpc>
                <a:spcPts val="2975"/>
              </a:lnSpc>
              <a:buFont typeface="Arial"/>
              <a:buChar char="•"/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Teenagers (13–17 age group) show the highest daily screen time.</a:t>
            </a:r>
          </a:p>
          <a:p>
            <a:pPr algn="l" marL="458896" indent="-229448" lvl="1">
              <a:lnSpc>
                <a:spcPts val="2975"/>
              </a:lnSpc>
              <a:buFont typeface="Arial"/>
              <a:buChar char="•"/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Increased screen time correlates with eye strain, poor sleep, and anxiety.</a:t>
            </a:r>
          </a:p>
          <a:p>
            <a:pPr algn="l" marL="458896" indent="-229448" lvl="1">
              <a:lnSpc>
                <a:spcPts val="2975"/>
              </a:lnSpc>
              <a:buFont typeface="Arial"/>
              <a:buChar char="•"/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Evening and late-night screen usage contributes most to high-risk behavior.</a:t>
            </a:r>
          </a:p>
          <a:p>
            <a:pPr algn="l">
              <a:lnSpc>
                <a:spcPts val="297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13186" y="2257972"/>
            <a:ext cx="13347864" cy="6667528"/>
            <a:chOff x="0" y="0"/>
            <a:chExt cx="3515487" cy="17560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15487" cy="1756057"/>
            </a:xfrm>
            <a:custGeom>
              <a:avLst/>
              <a:gdLst/>
              <a:ahLst/>
              <a:cxnLst/>
              <a:rect r="r" b="b" t="t" l="l"/>
              <a:pathLst>
                <a:path h="1756057" w="3515487">
                  <a:moveTo>
                    <a:pt x="29581" y="0"/>
                  </a:moveTo>
                  <a:lnTo>
                    <a:pt x="3485906" y="0"/>
                  </a:lnTo>
                  <a:cubicBezTo>
                    <a:pt x="3502243" y="0"/>
                    <a:pt x="3515487" y="13244"/>
                    <a:pt x="3515487" y="29581"/>
                  </a:cubicBezTo>
                  <a:lnTo>
                    <a:pt x="3515487" y="1726476"/>
                  </a:lnTo>
                  <a:cubicBezTo>
                    <a:pt x="3515487" y="1734321"/>
                    <a:pt x="3512370" y="1741845"/>
                    <a:pt x="3506823" y="1747393"/>
                  </a:cubicBezTo>
                  <a:cubicBezTo>
                    <a:pt x="3501275" y="1752940"/>
                    <a:pt x="3493751" y="1756057"/>
                    <a:pt x="3485906" y="1756057"/>
                  </a:cubicBezTo>
                  <a:lnTo>
                    <a:pt x="29581" y="1756057"/>
                  </a:lnTo>
                  <a:cubicBezTo>
                    <a:pt x="21735" y="1756057"/>
                    <a:pt x="14211" y="1752940"/>
                    <a:pt x="8664" y="1747393"/>
                  </a:cubicBezTo>
                  <a:cubicBezTo>
                    <a:pt x="3117" y="1741845"/>
                    <a:pt x="0" y="1734321"/>
                    <a:pt x="0" y="1726476"/>
                  </a:cubicBezTo>
                  <a:lnTo>
                    <a:pt x="0" y="29581"/>
                  </a:lnTo>
                  <a:cubicBezTo>
                    <a:pt x="0" y="13244"/>
                    <a:pt x="13244" y="0"/>
                    <a:pt x="29581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515487" cy="1813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548388" y="2580962"/>
            <a:ext cx="7920644" cy="139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87"/>
              </a:lnSpc>
            </a:pPr>
            <a:r>
              <a:rPr lang="en-US" b="true" sz="7776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05457" y="4181457"/>
            <a:ext cx="14859689" cy="4024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0899" indent="-245449" lvl="1">
              <a:lnSpc>
                <a:spcPts val="3183"/>
              </a:lnSpc>
              <a:buFont typeface="Arial"/>
              <a:buChar char="•"/>
            </a:pPr>
            <a:r>
              <a:rPr lang="en-US" sz="2273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Data Collection from structured dataset</a:t>
            </a:r>
          </a:p>
          <a:p>
            <a:pPr algn="l" marL="490899" indent="-245449" lvl="1">
              <a:lnSpc>
                <a:spcPts val="3183"/>
              </a:lnSpc>
              <a:buFont typeface="Arial"/>
              <a:buChar char="•"/>
            </a:pPr>
            <a:r>
              <a:rPr lang="en-US" sz="2273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Data Cleaning &amp; Preprocessing to remove noise and inconsistencies</a:t>
            </a:r>
          </a:p>
          <a:p>
            <a:pPr algn="l" marL="490899" indent="-245449" lvl="1">
              <a:lnSpc>
                <a:spcPts val="3183"/>
              </a:lnSpc>
              <a:buFont typeface="Arial"/>
              <a:buChar char="•"/>
            </a:pPr>
            <a:r>
              <a:rPr lang="en-US" sz="2273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Feature Engineering (total screen time, ratios, age grouping)</a:t>
            </a:r>
          </a:p>
          <a:p>
            <a:pPr algn="l" marL="490899" indent="-245449" lvl="1">
              <a:lnSpc>
                <a:spcPts val="3183"/>
              </a:lnSpc>
              <a:buFont typeface="Arial"/>
              <a:buChar char="•"/>
            </a:pPr>
            <a:r>
              <a:rPr lang="en-US" sz="2273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Exploratory Data Analysis for pattern identification</a:t>
            </a:r>
          </a:p>
          <a:p>
            <a:pPr algn="l" marL="490899" indent="-245449" lvl="1">
              <a:lnSpc>
                <a:spcPts val="3183"/>
              </a:lnSpc>
              <a:buFont typeface="Arial"/>
              <a:buChar char="•"/>
            </a:pPr>
            <a:r>
              <a:rPr lang="en-US" sz="2273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Prototype Development in Jupyter Notebook</a:t>
            </a:r>
          </a:p>
          <a:p>
            <a:pPr algn="l" marL="490899" indent="-245449" lvl="1">
              <a:lnSpc>
                <a:spcPts val="3183"/>
              </a:lnSpc>
              <a:buFont typeface="Arial"/>
              <a:buChar char="•"/>
            </a:pPr>
            <a:r>
              <a:rPr lang="en-US" sz="2273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Backend Development with FastAPI for prediction &amp; recommendation APIs</a:t>
            </a:r>
          </a:p>
          <a:p>
            <a:pPr algn="l" marL="490899" indent="-245449" lvl="1">
              <a:lnSpc>
                <a:spcPts val="3183"/>
              </a:lnSpc>
              <a:buFont typeface="Arial"/>
              <a:buChar char="•"/>
            </a:pPr>
            <a:r>
              <a:rPr lang="en-US" sz="2273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Frontend Development with React.js for user interaction</a:t>
            </a:r>
          </a:p>
          <a:p>
            <a:pPr algn="l" marL="490899" indent="-245449" lvl="1">
              <a:lnSpc>
                <a:spcPts val="3183"/>
              </a:lnSpc>
              <a:buFont typeface="Arial"/>
              <a:buChar char="•"/>
            </a:pPr>
            <a:r>
              <a:rPr lang="en-US" sz="2273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Power BI Dashboard for visual insights</a:t>
            </a:r>
          </a:p>
          <a:p>
            <a:pPr algn="l" marL="490899" indent="-245449" lvl="1">
              <a:lnSpc>
                <a:spcPts val="3183"/>
              </a:lnSpc>
              <a:buFont typeface="Arial"/>
              <a:buChar char="•"/>
            </a:pPr>
            <a:r>
              <a:rPr lang="en-US" sz="2273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System Integration &amp; Testing ensuring smooth flow</a:t>
            </a:r>
          </a:p>
          <a:p>
            <a:pPr algn="l">
              <a:lnSpc>
                <a:spcPts val="318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4679" y="1442420"/>
            <a:ext cx="15018641" cy="7402160"/>
            <a:chOff x="0" y="0"/>
            <a:chExt cx="3955527" cy="19495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55527" cy="1949540"/>
            </a:xfrm>
            <a:custGeom>
              <a:avLst/>
              <a:gdLst/>
              <a:ahLst/>
              <a:cxnLst/>
              <a:rect r="r" b="b" t="t" l="l"/>
              <a:pathLst>
                <a:path h="1949540" w="3955527">
                  <a:moveTo>
                    <a:pt x="26290" y="0"/>
                  </a:moveTo>
                  <a:lnTo>
                    <a:pt x="3929237" y="0"/>
                  </a:lnTo>
                  <a:cubicBezTo>
                    <a:pt x="3943757" y="0"/>
                    <a:pt x="3955527" y="11770"/>
                    <a:pt x="3955527" y="26290"/>
                  </a:cubicBezTo>
                  <a:lnTo>
                    <a:pt x="3955527" y="1923250"/>
                  </a:lnTo>
                  <a:cubicBezTo>
                    <a:pt x="3955527" y="1937770"/>
                    <a:pt x="3943757" y="1949540"/>
                    <a:pt x="3929237" y="1949540"/>
                  </a:cubicBezTo>
                  <a:lnTo>
                    <a:pt x="26290" y="1949540"/>
                  </a:lnTo>
                  <a:cubicBezTo>
                    <a:pt x="11770" y="1949540"/>
                    <a:pt x="0" y="1937770"/>
                    <a:pt x="0" y="1923250"/>
                  </a:cubicBezTo>
                  <a:lnTo>
                    <a:pt x="0" y="26290"/>
                  </a:lnTo>
                  <a:cubicBezTo>
                    <a:pt x="0" y="11770"/>
                    <a:pt x="11770" y="0"/>
                    <a:pt x="26290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955527" cy="2006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625413" y="2188213"/>
            <a:ext cx="11037173" cy="131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27"/>
              </a:lnSpc>
            </a:pPr>
            <a:r>
              <a:rPr lang="en-US" b="true" sz="7233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PREPROCESSING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9595" y="3221993"/>
            <a:ext cx="11797928" cy="4488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9"/>
              </a:lnSpc>
            </a:pPr>
          </a:p>
          <a:p>
            <a:pPr algn="l" marL="545833" indent="-272916" lvl="1">
              <a:lnSpc>
                <a:spcPts val="3539"/>
              </a:lnSpc>
              <a:buFont typeface="Arial"/>
              <a:buChar char="•"/>
            </a:pPr>
            <a:r>
              <a:rPr lang="en-US" sz="252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Removed duplicates and invalid records</a:t>
            </a:r>
          </a:p>
          <a:p>
            <a:pPr algn="l" marL="545833" indent="-272916" lvl="1">
              <a:lnSpc>
                <a:spcPts val="3539"/>
              </a:lnSpc>
              <a:buFont typeface="Arial"/>
              <a:buChar char="•"/>
            </a:pPr>
            <a:r>
              <a:rPr lang="en-US" sz="252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Handled missing values through imputation</a:t>
            </a:r>
          </a:p>
          <a:p>
            <a:pPr algn="l" marL="545833" indent="-272916" lvl="1">
              <a:lnSpc>
                <a:spcPts val="3539"/>
              </a:lnSpc>
              <a:buFont typeface="Arial"/>
              <a:buChar char="•"/>
            </a:pPr>
            <a:r>
              <a:rPr lang="en-US" sz="252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Standardized inconsistent activity labels</a:t>
            </a:r>
          </a:p>
          <a:p>
            <a:pPr algn="l" marL="545833" indent="-272916" lvl="1">
              <a:lnSpc>
                <a:spcPts val="3539"/>
              </a:lnSpc>
              <a:buFont typeface="Arial"/>
              <a:buChar char="•"/>
            </a:pPr>
            <a:r>
              <a:rPr lang="en-US" sz="252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Created meaningful derived features:</a:t>
            </a:r>
          </a:p>
          <a:p>
            <a:pPr algn="l" marL="1091666" indent="-363889" lvl="2">
              <a:lnSpc>
                <a:spcPts val="3539"/>
              </a:lnSpc>
              <a:buFont typeface="Arial"/>
              <a:buChar char="⚬"/>
            </a:pPr>
            <a:r>
              <a:rPr lang="en-US" sz="252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Total Screen Time (hrs/day)</a:t>
            </a:r>
          </a:p>
          <a:p>
            <a:pPr algn="l" marL="1091666" indent="-363889" lvl="2">
              <a:lnSpc>
                <a:spcPts val="3539"/>
              </a:lnSpc>
              <a:buFont typeface="Arial"/>
              <a:buChar char="⚬"/>
            </a:pPr>
            <a:r>
              <a:rPr lang="en-US" sz="252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Edu/Rec Screen-Time Ratio</a:t>
            </a:r>
          </a:p>
          <a:p>
            <a:pPr algn="l" marL="1091666" indent="-363889" lvl="2">
              <a:lnSpc>
                <a:spcPts val="3539"/>
              </a:lnSpc>
              <a:buFont typeface="Arial"/>
              <a:buChar char="⚬"/>
            </a:pPr>
            <a:r>
              <a:rPr lang="en-US" sz="252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Age Category Segmentation</a:t>
            </a:r>
          </a:p>
          <a:p>
            <a:pPr algn="l" marL="545833" indent="-272916" lvl="1">
              <a:lnSpc>
                <a:spcPts val="3539"/>
              </a:lnSpc>
              <a:buFont typeface="Arial"/>
              <a:buChar char="•"/>
            </a:pPr>
            <a:r>
              <a:rPr lang="en-US" sz="252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Converted categorical variables into uniform formats for analysis</a:t>
            </a:r>
          </a:p>
          <a:p>
            <a:pPr algn="l">
              <a:lnSpc>
                <a:spcPts val="353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12609" y="1503851"/>
            <a:ext cx="14862783" cy="7279297"/>
            <a:chOff x="0" y="0"/>
            <a:chExt cx="4808252" cy="23549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08252" cy="2354922"/>
            </a:xfrm>
            <a:custGeom>
              <a:avLst/>
              <a:gdLst/>
              <a:ahLst/>
              <a:cxnLst/>
              <a:rect r="r" b="b" t="t" l="l"/>
              <a:pathLst>
                <a:path h="2354922" w="4808252">
                  <a:moveTo>
                    <a:pt x="26566" y="0"/>
                  </a:moveTo>
                  <a:lnTo>
                    <a:pt x="4781687" y="0"/>
                  </a:lnTo>
                  <a:cubicBezTo>
                    <a:pt x="4788733" y="0"/>
                    <a:pt x="4795489" y="2799"/>
                    <a:pt x="4800471" y="7781"/>
                  </a:cubicBezTo>
                  <a:cubicBezTo>
                    <a:pt x="4805454" y="12763"/>
                    <a:pt x="4808252" y="19520"/>
                    <a:pt x="4808252" y="26566"/>
                  </a:cubicBezTo>
                  <a:lnTo>
                    <a:pt x="4808252" y="2328357"/>
                  </a:lnTo>
                  <a:cubicBezTo>
                    <a:pt x="4808252" y="2335402"/>
                    <a:pt x="4805454" y="2342159"/>
                    <a:pt x="4800471" y="2347141"/>
                  </a:cubicBezTo>
                  <a:cubicBezTo>
                    <a:pt x="4795489" y="2352123"/>
                    <a:pt x="4788733" y="2354922"/>
                    <a:pt x="4781687" y="2354922"/>
                  </a:cubicBezTo>
                  <a:lnTo>
                    <a:pt x="26566" y="2354922"/>
                  </a:lnTo>
                  <a:cubicBezTo>
                    <a:pt x="19520" y="2354922"/>
                    <a:pt x="12763" y="2352123"/>
                    <a:pt x="7781" y="2347141"/>
                  </a:cubicBezTo>
                  <a:cubicBezTo>
                    <a:pt x="2799" y="2342159"/>
                    <a:pt x="0" y="2335402"/>
                    <a:pt x="0" y="2328357"/>
                  </a:cubicBezTo>
                  <a:lnTo>
                    <a:pt x="0" y="26566"/>
                  </a:lnTo>
                  <a:cubicBezTo>
                    <a:pt x="0" y="19520"/>
                    <a:pt x="2799" y="12763"/>
                    <a:pt x="7781" y="7781"/>
                  </a:cubicBezTo>
                  <a:cubicBezTo>
                    <a:pt x="12763" y="2799"/>
                    <a:pt x="19520" y="0"/>
                    <a:pt x="2656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08252" cy="24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56883" y="2452411"/>
            <a:ext cx="11974235" cy="1102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6"/>
              </a:lnSpc>
            </a:pPr>
            <a:r>
              <a:rPr lang="en-US" b="true" sz="6082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EXPLORATORY DATA ANALYSIS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88281" y="3306379"/>
            <a:ext cx="13126817" cy="496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2"/>
              </a:lnSpc>
            </a:pPr>
          </a:p>
          <a:p>
            <a:pPr algn="l" marL="608045" indent="-304022" lvl="1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Univariate Analysis: Distribution of screen time across age groups</a:t>
            </a:r>
          </a:p>
          <a:p>
            <a:pPr algn="l" marL="608045" indent="-304022" lvl="1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Bivariate Analysis: Relationship between screen time and health symptoms</a:t>
            </a:r>
          </a:p>
          <a:p>
            <a:pPr algn="l" marL="608045" indent="-304022" lvl="1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Category Comparison: Activity type vs screen hours</a:t>
            </a:r>
          </a:p>
          <a:p>
            <a:pPr algn="l" marL="608045" indent="-304022" lvl="1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Weekday vs Weekend Usage: Higher recreational time on weekends</a:t>
            </a:r>
          </a:p>
          <a:p>
            <a:pPr algn="l" marL="608045" indent="-304022" lvl="1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Device-Level Breakdown: Dominance of mobile usage</a:t>
            </a:r>
          </a:p>
          <a:p>
            <a:pPr algn="l" marL="608045" indent="-304022" lvl="1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Correlation Study: Strong link between long usage hours and health impacts</a:t>
            </a:r>
          </a:p>
          <a:p>
            <a:pPr algn="l">
              <a:lnSpc>
                <a:spcPts val="3942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0673" y="0"/>
            <a:ext cx="17826655" cy="10356134"/>
          </a:xfrm>
          <a:custGeom>
            <a:avLst/>
            <a:gdLst/>
            <a:ahLst/>
            <a:cxnLst/>
            <a:rect r="r" b="b" t="t" l="l"/>
            <a:pathLst>
              <a:path h="10356134" w="17826655">
                <a:moveTo>
                  <a:pt x="0" y="0"/>
                </a:moveTo>
                <a:lnTo>
                  <a:pt x="17826654" y="0"/>
                </a:lnTo>
                <a:lnTo>
                  <a:pt x="17826654" y="10356134"/>
                </a:lnTo>
                <a:lnTo>
                  <a:pt x="0" y="103561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12" t="-2347" r="-7476" b="-8605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5652" y="1237370"/>
            <a:ext cx="13051870" cy="2548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67"/>
              </a:lnSpc>
            </a:pPr>
            <a:r>
              <a:rPr lang="en-US" sz="711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ARCHITECTURE &amp; APPLICATION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38769" y="4169265"/>
            <a:ext cx="4803418" cy="3791285"/>
            <a:chOff x="0" y="0"/>
            <a:chExt cx="1553952" cy="12265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3952" cy="1226517"/>
            </a:xfrm>
            <a:custGeom>
              <a:avLst/>
              <a:gdLst/>
              <a:ahLst/>
              <a:cxnLst/>
              <a:rect r="r" b="b" t="t" l="l"/>
              <a:pathLst>
                <a:path h="1226517" w="1553952">
                  <a:moveTo>
                    <a:pt x="82199" y="0"/>
                  </a:moveTo>
                  <a:lnTo>
                    <a:pt x="1471752" y="0"/>
                  </a:lnTo>
                  <a:cubicBezTo>
                    <a:pt x="1517150" y="0"/>
                    <a:pt x="1553952" y="36802"/>
                    <a:pt x="1553952" y="82199"/>
                  </a:cubicBezTo>
                  <a:lnTo>
                    <a:pt x="1553952" y="1144317"/>
                  </a:lnTo>
                  <a:cubicBezTo>
                    <a:pt x="1553952" y="1189715"/>
                    <a:pt x="1517150" y="1226517"/>
                    <a:pt x="1471752" y="1226517"/>
                  </a:cubicBezTo>
                  <a:lnTo>
                    <a:pt x="82199" y="1226517"/>
                  </a:lnTo>
                  <a:cubicBezTo>
                    <a:pt x="36802" y="1226517"/>
                    <a:pt x="0" y="1189715"/>
                    <a:pt x="0" y="1144317"/>
                  </a:cubicBezTo>
                  <a:lnTo>
                    <a:pt x="0" y="82199"/>
                  </a:lnTo>
                  <a:cubicBezTo>
                    <a:pt x="0" y="36802"/>
                    <a:pt x="36802" y="0"/>
                    <a:pt x="82199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553952" cy="128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60772" y="4427466"/>
            <a:ext cx="4509111" cy="312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7"/>
              </a:lnSpc>
            </a:pPr>
            <a:r>
              <a:rPr lang="en-US" sz="2226" b="true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 Flow</a:t>
            </a:r>
          </a:p>
          <a:p>
            <a:pPr algn="l" marL="480691" indent="-240345" lvl="1">
              <a:lnSpc>
                <a:spcPts val="3117"/>
              </a:lnSpc>
              <a:buFont typeface="Arial"/>
              <a:buChar char="•"/>
            </a:pPr>
            <a:r>
              <a:rPr lang="en-US" sz="222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User</a:t>
            </a:r>
          </a:p>
          <a:p>
            <a:pPr algn="l" marL="480691" indent="-240345" lvl="1">
              <a:lnSpc>
                <a:spcPts val="3117"/>
              </a:lnSpc>
              <a:buFont typeface="Arial"/>
              <a:buChar char="•"/>
            </a:pPr>
            <a:r>
              <a:rPr lang="en-US" sz="222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→ React Frontend</a:t>
            </a:r>
          </a:p>
          <a:p>
            <a:pPr algn="l" marL="480691" indent="-240345" lvl="1">
              <a:lnSpc>
                <a:spcPts val="3117"/>
              </a:lnSpc>
              <a:buFont typeface="Arial"/>
              <a:buChar char="•"/>
            </a:pPr>
            <a:r>
              <a:rPr lang="en-US" sz="222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→ FastAPI Backend</a:t>
            </a:r>
          </a:p>
          <a:p>
            <a:pPr algn="l" marL="480691" indent="-240345" lvl="1">
              <a:lnSpc>
                <a:spcPts val="3117"/>
              </a:lnSpc>
              <a:buFont typeface="Arial"/>
              <a:buChar char="•"/>
            </a:pPr>
            <a:r>
              <a:rPr lang="en-US" sz="222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→ Logic Engine</a:t>
            </a:r>
          </a:p>
          <a:p>
            <a:pPr algn="l" marL="480691" indent="-240345" lvl="1">
              <a:lnSpc>
                <a:spcPts val="3117"/>
              </a:lnSpc>
              <a:buFont typeface="Arial"/>
              <a:buChar char="•"/>
            </a:pPr>
            <a:r>
              <a:rPr lang="en-US" sz="222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→ Output: Prediction + Recommendations</a:t>
            </a:r>
          </a:p>
          <a:p>
            <a:pPr algn="l">
              <a:lnSpc>
                <a:spcPts val="3117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6742291" y="4169265"/>
            <a:ext cx="4803418" cy="3791285"/>
            <a:chOff x="0" y="0"/>
            <a:chExt cx="1553952" cy="12265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3952" cy="1226517"/>
            </a:xfrm>
            <a:custGeom>
              <a:avLst/>
              <a:gdLst/>
              <a:ahLst/>
              <a:cxnLst/>
              <a:rect r="r" b="b" t="t" l="l"/>
              <a:pathLst>
                <a:path h="1226517" w="1553952">
                  <a:moveTo>
                    <a:pt x="82199" y="0"/>
                  </a:moveTo>
                  <a:lnTo>
                    <a:pt x="1471752" y="0"/>
                  </a:lnTo>
                  <a:cubicBezTo>
                    <a:pt x="1517150" y="0"/>
                    <a:pt x="1553952" y="36802"/>
                    <a:pt x="1553952" y="82199"/>
                  </a:cubicBezTo>
                  <a:lnTo>
                    <a:pt x="1553952" y="1144317"/>
                  </a:lnTo>
                  <a:cubicBezTo>
                    <a:pt x="1553952" y="1189715"/>
                    <a:pt x="1517150" y="1226517"/>
                    <a:pt x="1471752" y="1226517"/>
                  </a:cubicBezTo>
                  <a:lnTo>
                    <a:pt x="82199" y="1226517"/>
                  </a:lnTo>
                  <a:cubicBezTo>
                    <a:pt x="36802" y="1226517"/>
                    <a:pt x="0" y="1189715"/>
                    <a:pt x="0" y="1144317"/>
                  </a:cubicBezTo>
                  <a:lnTo>
                    <a:pt x="0" y="82199"/>
                  </a:lnTo>
                  <a:cubicBezTo>
                    <a:pt x="0" y="36802"/>
                    <a:pt x="36802" y="0"/>
                    <a:pt x="82199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553952" cy="128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075432" y="4412052"/>
            <a:ext cx="4137136" cy="3523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b="true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Features</a:t>
            </a:r>
          </a:p>
          <a:p>
            <a:pPr algn="l" marL="434045" indent="-217022" lvl="1">
              <a:lnSpc>
                <a:spcPts val="2814"/>
              </a:lnSpc>
              <a:buFont typeface="Arial"/>
              <a:buChar char="•"/>
            </a:pPr>
            <a:r>
              <a:rPr lang="en-US" sz="201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Personalized recommendation generator</a:t>
            </a:r>
          </a:p>
          <a:p>
            <a:pPr algn="l" marL="434045" indent="-217022" lvl="1">
              <a:lnSpc>
                <a:spcPts val="2814"/>
              </a:lnSpc>
              <a:buFont typeface="Arial"/>
              <a:buChar char="•"/>
            </a:pPr>
            <a:r>
              <a:rPr lang="en-US" sz="201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Health impact analysis &amp; alerts</a:t>
            </a:r>
          </a:p>
          <a:p>
            <a:pPr algn="l" marL="434045" indent="-217022" lvl="1">
              <a:lnSpc>
                <a:spcPts val="2814"/>
              </a:lnSpc>
              <a:buFont typeface="Arial"/>
              <a:buChar char="•"/>
            </a:pPr>
            <a:r>
              <a:rPr lang="en-US" sz="201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Clean, responsive UI</a:t>
            </a:r>
          </a:p>
          <a:p>
            <a:pPr algn="l" marL="434045" indent="-217022" lvl="1">
              <a:lnSpc>
                <a:spcPts val="2814"/>
              </a:lnSpc>
              <a:buFont typeface="Arial"/>
              <a:buChar char="•"/>
            </a:pPr>
            <a:r>
              <a:rPr lang="en-US" sz="201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API-driven result display</a:t>
            </a:r>
          </a:p>
          <a:p>
            <a:pPr algn="l" marL="434045" indent="-217022" lvl="1">
              <a:lnSpc>
                <a:spcPts val="2814"/>
              </a:lnSpc>
              <a:buFont typeface="Arial"/>
              <a:buChar char="•"/>
            </a:pPr>
            <a:r>
              <a:rPr lang="en-US" sz="201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Power BI insights for analytics</a:t>
            </a:r>
          </a:p>
          <a:p>
            <a:pPr algn="l">
              <a:lnSpc>
                <a:spcPts val="2814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2145812" y="4169265"/>
            <a:ext cx="4803418" cy="3791285"/>
            <a:chOff x="0" y="0"/>
            <a:chExt cx="1553952" cy="12265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3952" cy="1226517"/>
            </a:xfrm>
            <a:custGeom>
              <a:avLst/>
              <a:gdLst/>
              <a:ahLst/>
              <a:cxnLst/>
              <a:rect r="r" b="b" t="t" l="l"/>
              <a:pathLst>
                <a:path h="1226517" w="1553952">
                  <a:moveTo>
                    <a:pt x="82199" y="0"/>
                  </a:moveTo>
                  <a:lnTo>
                    <a:pt x="1471752" y="0"/>
                  </a:lnTo>
                  <a:cubicBezTo>
                    <a:pt x="1517150" y="0"/>
                    <a:pt x="1553952" y="36802"/>
                    <a:pt x="1553952" y="82199"/>
                  </a:cubicBezTo>
                  <a:lnTo>
                    <a:pt x="1553952" y="1144317"/>
                  </a:lnTo>
                  <a:cubicBezTo>
                    <a:pt x="1553952" y="1189715"/>
                    <a:pt x="1517150" y="1226517"/>
                    <a:pt x="1471752" y="1226517"/>
                  </a:cubicBezTo>
                  <a:lnTo>
                    <a:pt x="82199" y="1226517"/>
                  </a:lnTo>
                  <a:cubicBezTo>
                    <a:pt x="36802" y="1226517"/>
                    <a:pt x="0" y="1189715"/>
                    <a:pt x="0" y="1144317"/>
                  </a:cubicBezTo>
                  <a:lnTo>
                    <a:pt x="0" y="82199"/>
                  </a:lnTo>
                  <a:cubicBezTo>
                    <a:pt x="0" y="36802"/>
                    <a:pt x="36802" y="0"/>
                    <a:pt x="82199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553952" cy="128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380931" y="4436991"/>
            <a:ext cx="4323777" cy="296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121" b="true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 Prototype Versions</a:t>
            </a:r>
          </a:p>
          <a:p>
            <a:pPr algn="l" marL="458111" indent="-229055" lvl="1">
              <a:lnSpc>
                <a:spcPts val="2970"/>
              </a:lnSpc>
              <a:buFont typeface="Arial"/>
              <a:buChar char="•"/>
            </a:pPr>
            <a:r>
              <a:rPr lang="en-US" sz="212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Console Prototype</a:t>
            </a:r>
          </a:p>
          <a:p>
            <a:pPr algn="l" marL="458111" indent="-229055" lvl="1">
              <a:lnSpc>
                <a:spcPts val="2970"/>
              </a:lnSpc>
              <a:buFont typeface="Arial"/>
              <a:buChar char="•"/>
            </a:pPr>
            <a:r>
              <a:rPr lang="en-US" sz="212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Built in Jupyter Notebook to validate logic</a:t>
            </a:r>
          </a:p>
          <a:p>
            <a:pPr algn="l" marL="458111" indent="-229055" lvl="1">
              <a:lnSpc>
                <a:spcPts val="2970"/>
              </a:lnSpc>
              <a:buFont typeface="Arial"/>
              <a:buChar char="•"/>
            </a:pPr>
            <a:r>
              <a:rPr lang="en-US" sz="212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Web Application</a:t>
            </a:r>
          </a:p>
          <a:p>
            <a:pPr algn="l" marL="458111" indent="-229055" lvl="1">
              <a:lnSpc>
                <a:spcPts val="2970"/>
              </a:lnSpc>
              <a:buFont typeface="Arial"/>
              <a:buChar char="•"/>
            </a:pPr>
            <a:r>
              <a:rPr lang="en-US" sz="212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Full-stack version offering real-time</a:t>
            </a:r>
          </a:p>
          <a:p>
            <a:pPr algn="l">
              <a:lnSpc>
                <a:spcPts val="297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1417" y="1028700"/>
            <a:ext cx="8782583" cy="7990214"/>
          </a:xfrm>
          <a:custGeom>
            <a:avLst/>
            <a:gdLst/>
            <a:ahLst/>
            <a:cxnLst/>
            <a:rect r="r" b="b" t="t" l="l"/>
            <a:pathLst>
              <a:path h="7990214" w="8782583">
                <a:moveTo>
                  <a:pt x="0" y="0"/>
                </a:moveTo>
                <a:lnTo>
                  <a:pt x="8782583" y="0"/>
                </a:lnTo>
                <a:lnTo>
                  <a:pt x="8782583" y="7990214"/>
                </a:lnTo>
                <a:lnTo>
                  <a:pt x="0" y="7990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218" t="-13085" r="-49559" b="-857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00882" y="1028700"/>
            <a:ext cx="8763000" cy="7878147"/>
          </a:xfrm>
          <a:custGeom>
            <a:avLst/>
            <a:gdLst/>
            <a:ahLst/>
            <a:cxnLst/>
            <a:rect r="r" b="b" t="t" l="l"/>
            <a:pathLst>
              <a:path h="7878147" w="8763000">
                <a:moveTo>
                  <a:pt x="0" y="0"/>
                </a:moveTo>
                <a:lnTo>
                  <a:pt x="8763000" y="0"/>
                </a:lnTo>
                <a:lnTo>
                  <a:pt x="8763000" y="7878147"/>
                </a:lnTo>
                <a:lnTo>
                  <a:pt x="0" y="7878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179" t="-10860" r="-46183" b="-762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08956" y="1948590"/>
            <a:ext cx="14862783" cy="6870323"/>
            <a:chOff x="0" y="0"/>
            <a:chExt cx="4808252" cy="22226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08252" cy="2222615"/>
            </a:xfrm>
            <a:custGeom>
              <a:avLst/>
              <a:gdLst/>
              <a:ahLst/>
              <a:cxnLst/>
              <a:rect r="r" b="b" t="t" l="l"/>
              <a:pathLst>
                <a:path h="2222615" w="4808252">
                  <a:moveTo>
                    <a:pt x="26566" y="0"/>
                  </a:moveTo>
                  <a:lnTo>
                    <a:pt x="4781687" y="0"/>
                  </a:lnTo>
                  <a:cubicBezTo>
                    <a:pt x="4788733" y="0"/>
                    <a:pt x="4795489" y="2799"/>
                    <a:pt x="4800471" y="7781"/>
                  </a:cubicBezTo>
                  <a:cubicBezTo>
                    <a:pt x="4805454" y="12763"/>
                    <a:pt x="4808252" y="19520"/>
                    <a:pt x="4808252" y="26566"/>
                  </a:cubicBezTo>
                  <a:lnTo>
                    <a:pt x="4808252" y="2196049"/>
                  </a:lnTo>
                  <a:cubicBezTo>
                    <a:pt x="4808252" y="2203095"/>
                    <a:pt x="4805454" y="2209852"/>
                    <a:pt x="4800471" y="2214834"/>
                  </a:cubicBezTo>
                  <a:cubicBezTo>
                    <a:pt x="4795489" y="2219816"/>
                    <a:pt x="4788733" y="2222615"/>
                    <a:pt x="4781687" y="2222615"/>
                  </a:cubicBezTo>
                  <a:lnTo>
                    <a:pt x="26566" y="2222615"/>
                  </a:lnTo>
                  <a:cubicBezTo>
                    <a:pt x="19520" y="2222615"/>
                    <a:pt x="12763" y="2219816"/>
                    <a:pt x="7781" y="2214834"/>
                  </a:cubicBezTo>
                  <a:cubicBezTo>
                    <a:pt x="2799" y="2209852"/>
                    <a:pt x="0" y="2203095"/>
                    <a:pt x="0" y="2196049"/>
                  </a:cubicBezTo>
                  <a:lnTo>
                    <a:pt x="0" y="26566"/>
                  </a:lnTo>
                  <a:cubicBezTo>
                    <a:pt x="0" y="19520"/>
                    <a:pt x="2799" y="12763"/>
                    <a:pt x="7781" y="7781"/>
                  </a:cubicBezTo>
                  <a:cubicBezTo>
                    <a:pt x="12763" y="2799"/>
                    <a:pt x="19520" y="0"/>
                    <a:pt x="2656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08252" cy="2279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601157" y="2362764"/>
            <a:ext cx="9085687" cy="11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6"/>
              </a:lnSpc>
            </a:pPr>
            <a:r>
              <a:rPr lang="en-US" b="true" sz="6082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21135" y="3629669"/>
            <a:ext cx="11438425" cy="436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46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   Key Results</a:t>
            </a:r>
          </a:p>
          <a:p>
            <a:pPr algn="l" marL="532070" indent="-266035" lvl="1">
              <a:lnSpc>
                <a:spcPts val="3450"/>
              </a:lnSpc>
              <a:buFont typeface="Arial"/>
              <a:buChar char="•"/>
            </a:pPr>
            <a:r>
              <a:rPr lang="en-US" sz="246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Working data pipeline from raw data → insights → recommendations</a:t>
            </a:r>
          </a:p>
          <a:p>
            <a:pPr algn="l" marL="532070" indent="-266035" lvl="1">
              <a:lnSpc>
                <a:spcPts val="3450"/>
              </a:lnSpc>
              <a:buFont typeface="Arial"/>
              <a:buChar char="•"/>
            </a:pPr>
            <a:r>
              <a:rPr lang="en-US" sz="246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Functional recommendation engine based on screen-time patterns</a:t>
            </a:r>
          </a:p>
          <a:p>
            <a:pPr algn="l" marL="532070" indent="-266035" lvl="1">
              <a:lnSpc>
                <a:spcPts val="3450"/>
              </a:lnSpc>
              <a:buFont typeface="Arial"/>
              <a:buChar char="•"/>
            </a:pPr>
            <a:r>
              <a:rPr lang="en-US" sz="246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Interactive dashboards highlighting behavioral trends</a:t>
            </a:r>
          </a:p>
          <a:p>
            <a:pPr algn="l" marL="532070" indent="-266035" lvl="1">
              <a:lnSpc>
                <a:spcPts val="3450"/>
              </a:lnSpc>
              <a:buFont typeface="Arial"/>
              <a:buChar char="•"/>
            </a:pPr>
            <a:r>
              <a:rPr lang="en-US" sz="246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Successful integration of backend and frontend</a:t>
            </a:r>
          </a:p>
          <a:p>
            <a:pPr algn="l">
              <a:lnSpc>
                <a:spcPts val="3450"/>
              </a:lnSpc>
            </a:pPr>
            <a:r>
              <a:rPr lang="en-US" sz="246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6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  <a:p>
            <a:pPr algn="l" marL="532070" indent="-266035" lvl="1">
              <a:lnSpc>
                <a:spcPts val="3450"/>
              </a:lnSpc>
              <a:buFont typeface="Arial"/>
              <a:buChar char="•"/>
            </a:pPr>
            <a:r>
              <a:rPr lang="en-US" sz="246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This project delivers a complete behavioral analytics and recommendation system, offering insightful screen-time analysis and guiding users toward healthier digital habits.</a:t>
            </a:r>
          </a:p>
          <a:p>
            <a:pPr algn="l">
              <a:lnSpc>
                <a:spcPts val="345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DAG6nz15Hqk</dc:identifier>
  <dcterms:modified xsi:type="dcterms:W3CDTF">2011-08-01T06:04:30Z</dcterms:modified>
  <cp:revision>1</cp:revision>
  <dc:title>Non Text Magic Studio Magic Design for Presentations L&amp;P</dc:title>
</cp:coreProperties>
</file>